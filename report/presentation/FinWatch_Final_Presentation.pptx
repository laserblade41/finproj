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15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עמר	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חן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עמר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עמר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חן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עמר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חן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עמר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חן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עמר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חן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עמר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חן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200" dirty="0">
                <a:solidFill>
                  <a:srgbClr val="4C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BAR-ILAN UNIVERSITY   ·   FACULTY OF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FinWatch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Extensible BLE Smartwatch Platform with a Modular I²C Expansion Port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3703320"/>
            <a:ext cx="38404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9776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83453  |  Project 323  |  Hardware Design Track
</a:t>
            </a:r>
            <a:endParaRPr lang="en-US" sz="14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Omer Lazaros   ·   Chen Leibov
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Supervisor: Prof. Leonid Yavitz
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Mentor: David Freud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217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62872" y="6217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323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6CCB6DF-C075-423A-A568-D2369560BA82}"/>
              </a:ext>
            </a:extLst>
          </p:cNvPr>
          <p:cNvSpPr/>
          <p:nvPr/>
        </p:nvSpPr>
        <p:spPr>
          <a:xfrm>
            <a:off x="11091672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2DF93969-32F3-4360-8122-6DB63C1148FD}"/>
              </a:ext>
            </a:extLst>
          </p:cNvPr>
          <p:cNvSpPr txBox="1"/>
          <p:nvPr/>
        </p:nvSpPr>
        <p:spPr>
          <a:xfrm>
            <a:off x="6800294" y="5734288"/>
            <a:ext cx="529407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Github</a:t>
            </a:r>
            <a:r>
              <a:rPr lang="en-US" dirty="0">
                <a:solidFill>
                  <a:schemeClr val="bg1"/>
                </a:solidFill>
              </a:rPr>
              <a:t> Repo: https://github.com/laserblade41/FinProj</a:t>
            </a:r>
            <a:endParaRPr lang="he-IL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We're Going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FinWatch  ·  Project 323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0E5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0078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5819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 Problem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194767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sealed wearable can't grow new capabilities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459736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0E5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6517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253288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Scope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00200" y="2898648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 out to build - and what it deliberately left out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410712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0E5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602736"/>
            <a:ext cx="457200" cy="457200"/>
          </a:xfrm>
          <a:prstGeom prst="ellipse">
            <a:avLst/>
          </a:prstGeom>
          <a:solidFill>
            <a:srgbClr val="4CD9C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348386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FinWatch Module Protocol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3849624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technical contribution, explained stand-alone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361688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0E5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5537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00200" y="4434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Implementation, Verification &amp; Results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00200" y="480060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firmware, and what has been tested so far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312664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0E5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55046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504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00200" y="538581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Challenges, Logistics &amp; Conclusion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600200" y="5751576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wrong, what we learned, and what's next</a:t>
            </a:r>
            <a:endParaRPr lang="en-US" sz="125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D9A82E8-7748-4419-9D8A-CAC823814CAA}"/>
              </a:ext>
            </a:extLst>
          </p:cNvPr>
          <p:cNvSpPr/>
          <p:nvPr/>
        </p:nvSpPr>
        <p:spPr>
          <a:xfrm>
            <a:off x="10881360" y="6472443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Build an Extensible Wearable?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FinWatch  ·  Project 323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8E0E5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wearable engineering squeeze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board area and battery capacity - it has to fit on a wrist</a:t>
            </a:r>
            <a:endParaRPr lang="en-US" sz="13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sleep to save power, yet stay responsive to the user</a:t>
            </a:r>
            <a:endParaRPr lang="en-US" sz="13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regulators sit centimetres from a sensitive 2.4 GHz radio</a:t>
            </a:r>
            <a:endParaRPr lang="en-US" sz="13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board area worsens both thermal behaviour and crosstalk</a:t>
            </a:r>
            <a:endParaRPr lang="en-US" sz="13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constraint pulls against each over, we need to ensure compatibility of all components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8E0E5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sealed-device problem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assembled and sealed, the sensor set is frozen for the product's life</a:t>
            </a:r>
            <a:endParaRPr lang="en-US" sz="13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measurement idea today means designing an entirely new watch</a:t>
            </a:r>
            <a:endParaRPr lang="en-US" sz="13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wearables (PineTime, ZSWatch) open the firmware - not the hardware</a:t>
            </a:r>
            <a:endParaRPr lang="en-US" sz="13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kits (nRF5340-DK) are fully expandable, but not wearable</a:t>
            </a:r>
            <a:endParaRPr lang="en-US" sz="13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Modular-phone attempts (Project Ara) failed on connector complexity at that scale</a:t>
            </a:r>
            <a:endParaRPr lang="en-US" sz="13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8574E6F-E25C-4AB7-B336-FE4817423A13}"/>
              </a:ext>
            </a:extLst>
          </p:cNvPr>
          <p:cNvSpPr/>
          <p:nvPr/>
        </p:nvSpPr>
        <p:spPr>
          <a:xfrm>
            <a:off x="10926627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FinWatch  ·  Project 323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21080" y="1828800"/>
            <a:ext cx="10149840" cy="1828800"/>
          </a:xfrm>
          <a:prstGeom prst="roundRect">
            <a:avLst>
              <a:gd name="adj" fmla="val 4000"/>
            </a:avLst>
          </a:prstGeom>
          <a:solidFill>
            <a:srgbClr val="12263A"/>
          </a:solidFill>
          <a:ln w="15875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205740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no wearable platform where a sealed, finished device can accept new I²C hardware, at runtime, from an untrusted third party - without opening the case or modifying the watch's firmware.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463040" y="41148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12263A"/>
          </a:solidFill>
          <a:ln w="12700">
            <a:solidFill>
              <a:srgbClr val="24405A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00200" y="41148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4C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case opening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029200" y="41148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12263A"/>
          </a:solidFill>
          <a:ln w="12700">
            <a:solidFill>
              <a:srgbClr val="24405A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66360" y="41148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4C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firmware update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595360" y="41148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12263A"/>
          </a:solidFill>
          <a:ln w="12700">
            <a:solidFill>
              <a:srgbClr val="24405A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32520" y="41148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4C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knowledge of the module</a:t>
            </a:r>
            <a:endParaRPr lang="en-US" sz="15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03F49A9-3977-4ED5-9451-2CC2CEB0A617}"/>
              </a:ext>
            </a:extLst>
          </p:cNvPr>
          <p:cNvSpPr/>
          <p:nvPr/>
        </p:nvSpPr>
        <p:spPr>
          <a:xfrm>
            <a:off x="11000232" y="64793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FinWatch  ·  Project 323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 w="12700">
            <a:solidFill>
              <a:srgbClr val="D8E0E5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6420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8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objective
</a:t>
            </a:r>
            <a:endParaRPr lang="en-US" sz="1250" dirty="0"/>
          </a:p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build, and verify a wearable platform that keeps real smartwatch constraints while exposing a documented, safe, self-describing expansion interface.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770632"/>
            <a:ext cx="384048" cy="384048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7157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platform: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11880" y="271576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PCB: nRF5340 SoC, nPM1300 PMIC, LSM6DSOX IMU, QSPI flash, SPI touch display, pogo expansion port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384048" cy="384048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46557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FWMP v1: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11880" y="3465576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I²C expansion contract: electrical spec, register map, CRC-protected self-describing descriptor, host enumeration state machine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70248"/>
            <a:ext cx="384048" cy="384048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421538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Zephyr firmware: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11880" y="4215384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2,550 lines of C across nine subsystems implementing the watch app and the host side of FWMP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020056"/>
            <a:ext cx="384048" cy="384048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9651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Fault-injection harness: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611880" y="496519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mock transport that makes every host-side rejection path reachable without physical module hardware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769864"/>
            <a:ext cx="384048" cy="384048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769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5715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Design-review process: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611880" y="5715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hardware defects, root-cause analysis, and a pre-fabrication checklist</a:t>
            </a:r>
            <a:endParaRPr lang="en-US" sz="12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D00FBEF-3D48-4462-8020-33996E852E6A}"/>
              </a:ext>
            </a:extLst>
          </p:cNvPr>
          <p:cNvSpPr/>
          <p:nvPr/>
        </p:nvSpPr>
        <p:spPr>
          <a:xfrm>
            <a:off x="1083564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FinWatch  ·  Project 323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3E8E63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8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active module at a fixed I²C address (0x42)</a:t>
            </a:r>
            <a:endParaRPr lang="en-US" sz="13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Polled discovery since there is no dedicated interrupt line</a:t>
            </a:r>
            <a:endParaRPr lang="en-US" sz="13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Low-rate sensing, bounded by I²C bandwidth</a:t>
            </a:r>
            <a:endParaRPr lang="en-US" sz="13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validation of untrusted module-supplied data</a:t>
            </a:r>
            <a:endParaRPr lang="en-US" sz="13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via mock backend + nRF5340-DK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5B6B79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6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 (for now)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concurrent modules on the bus</a:t>
            </a:r>
            <a:endParaRPr lang="en-US" sz="13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interrupt-capable expansion variant</a:t>
            </a:r>
            <a:endParaRPr lang="en-US" sz="13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data - audio or video</a:t>
            </a:r>
            <a:endParaRPr lang="en-US" sz="13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over-current / ESD protection at the port</a:t>
            </a:r>
            <a:endParaRPr lang="en-US" sz="135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authentication</a:t>
            </a:r>
            <a:endParaRPr lang="en-US" sz="13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614893B-C37C-444E-AEE5-ED3BA3801AAD}"/>
              </a:ext>
            </a:extLst>
          </p:cNvPr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FinWatch  ·  Project 323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0E5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68680" y="51663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bidirectional level shifter connects the SoC's 1.8 V I²C bus to the 3.3 V expansion port — this is what makes the port usable by ordinary, off-the-shelf 3.3 V hardware.</a:t>
            </a:r>
            <a:endParaRPr lang="en-US" sz="1300" dirty="0"/>
          </a:p>
        </p:txBody>
      </p:sp>
      <p:pic>
        <p:nvPicPr>
          <p:cNvPr id="46" name="תמונה 45">
            <a:extLst>
              <a:ext uri="{FF2B5EF4-FFF2-40B4-BE49-F238E27FC236}">
                <a16:creationId xmlns:a16="http://schemas.microsoft.com/office/drawing/2014/main" id="{E769FC6A-B89A-4FE3-B80D-B8A201E1B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488" y="927542"/>
            <a:ext cx="6817371" cy="4238818"/>
          </a:xfrm>
          <a:prstGeom prst="rect">
            <a:avLst/>
          </a:prstGeom>
        </p:spPr>
      </p:pic>
      <p:sp>
        <p:nvSpPr>
          <p:cNvPr id="7" name="Text 8">
            <a:extLst>
              <a:ext uri="{FF2B5EF4-FFF2-40B4-BE49-F238E27FC236}">
                <a16:creationId xmlns:a16="http://schemas.microsoft.com/office/drawing/2014/main" id="{3FDC3C9D-DF0A-4191-9225-25199D0422AC}"/>
              </a:ext>
            </a:extLst>
          </p:cNvPr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Selection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part was chosen against explicit alternatives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FinWatch  ·  Project 323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454165"/>
              </p:ext>
            </p:extLst>
          </p:nvPr>
        </p:nvGraphicFramePr>
        <p:xfrm>
          <a:off x="548640" y="1691640"/>
          <a:ext cx="11064240" cy="43891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Chosen part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nRF5340 (bare IC)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Dual-core isolates BLE timing from the app; best-in-class sleep current; owns the RF design instead of hiding it in a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nPM1300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package replaces four discretes; integrated fuel gauge; native Zephyr drivers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BMI270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off the 1.8 V rail; on-sensor pedometer / ML core can keep the MCU asleep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shifter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PCA9306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Purpose-built for I²C; preserves open-drain semantics in both directions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Expansion connector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4-pin pogo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Sealed-surface contacts; no cavity through the case; cheap on the module side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8">
            <a:extLst>
              <a:ext uri="{FF2B5EF4-FFF2-40B4-BE49-F238E27FC236}">
                <a16:creationId xmlns:a16="http://schemas.microsoft.com/office/drawing/2014/main" id="{2A0A8641-1CBB-4C41-9C74-529CA485E282}"/>
              </a:ext>
            </a:extLst>
          </p:cNvPr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Contribution: FWMP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FinWatch Module Protocol - a self-describing I²C expansion contract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FinWatch  ·  Project 323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Electrical contract — 4 contacts, nothing more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5486400" cy="196596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B1F33"/>
                          </a:solidFill>
                        </a:rPr>
                        <a:t>Pin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D9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B1F33"/>
                          </a:solidFill>
                        </a:rPr>
                        <a:t>Signal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D9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B1F33"/>
                          </a:solidFill>
                        </a:rPr>
                        <a:t>Notes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D9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+3V3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Watch → module; bounded module current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SDA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Bidirectional, open-drain, pulled up on the watch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SCL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Watch → module; watch is always bus controller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GND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25196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12263A"/>
          </a:solidFill>
          <a:ln w="12700">
            <a:solidFill>
              <a:srgbClr val="24405A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43891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is an I²C target at fixed address 0x42</a:t>
            </a:r>
            <a:endParaRPr lang="en-US" sz="125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interrupt line, the host discovers by polling</a:t>
            </a:r>
            <a:endParaRPr lang="en-US" sz="125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owns the pull-ups; a module must not add its own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35508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contract — register map</a:t>
            </a:r>
            <a:endParaRPr lang="en-US" sz="15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584163"/>
              </p:ext>
            </p:extLst>
          </p:nvPr>
        </p:nvGraphicFramePr>
        <p:xfrm>
          <a:off x="6355080" y="2103120"/>
          <a:ext cx="5303520" cy="27432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B1F33"/>
                          </a:solidFill>
                        </a:rPr>
                        <a:t>Offset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D9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B1F33"/>
                          </a:solidFill>
                        </a:rPr>
                        <a:t>Meaning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D9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0x00–0x09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Fixed descriptor header: magic, version, length, VID/PID, capabilities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0x0A…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TLV area, then a trailing CRC-16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0x80–0x81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STATUS / SEQ- marks if there is any new data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0x82…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INPUT report (module → watch)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0xC0…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OUTPUT report (watch → module)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355080" y="502920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12263A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629400" y="50292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two-byte STATUS/SEQ read answers whether new data exists and whether it has already been seen - keeping idle polling cheap.</a:t>
            </a:r>
            <a:endParaRPr lang="en-US" sz="1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53A1861-6F8A-4F1D-9C66-3725FE6778D6}"/>
              </a:ext>
            </a:extLst>
          </p:cNvPr>
          <p:cNvSpPr/>
          <p:nvPr/>
        </p:nvSpPr>
        <p:spPr>
          <a:xfrm>
            <a:off x="11000232" y="64793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Self-Description via TLV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unknown module tells the watch what it 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FinWatch  ·  Project 323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2377440" cy="960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Header
</a:t>
            </a:r>
            <a:endParaRPr lang="en-US" sz="12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· version · length · VID/PID · CAPS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108960" y="1965960"/>
            <a:ext cx="5760720" cy="960120"/>
          </a:xfrm>
          <a:prstGeom prst="roundRect">
            <a:avLst>
              <a:gd name="adj" fmla="val 5714"/>
            </a:avLst>
          </a:prstGeom>
          <a:solidFill>
            <a:srgbClr val="1F4A63"/>
          </a:solidFill>
          <a:ln/>
        </p:spPr>
      </p:sp>
      <p:sp>
        <p:nvSpPr>
          <p:cNvPr id="8" name="Text 6"/>
          <p:cNvSpPr/>
          <p:nvPr/>
        </p:nvSpPr>
        <p:spPr>
          <a:xfrm>
            <a:off x="3108960" y="1965960"/>
            <a:ext cx="5760720" cy="960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TLV Entries
</a:t>
            </a:r>
            <a:endParaRPr lang="en-US" sz="12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INPUT_REPORT · OUTPUT_REPORT · ICON_ID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052560" y="1965960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F2A541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0" y="1965960"/>
            <a:ext cx="2606040" cy="960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CRC-16
</a:t>
            </a:r>
            <a:endParaRPr lang="en-US" sz="12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the whole descriptor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926080" y="2441448"/>
            <a:ext cx="1828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869680" y="2441448"/>
            <a:ext cx="1828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3246120"/>
            <a:ext cx="5440680" cy="2788920"/>
          </a:xfrm>
          <a:prstGeom prst="roundRect">
            <a:avLst>
              <a:gd name="adj" fmla="val 2623"/>
            </a:avLst>
          </a:prstGeom>
          <a:solidFill>
            <a:srgbClr val="12263A"/>
          </a:solidFill>
          <a:ln w="12700">
            <a:solidFill>
              <a:srgbClr val="24405A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429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TLV catalogue (v1)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79476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human-readable module name</a:t>
            </a:r>
            <a:endParaRPr lang="en-US" sz="1250" dirty="0"/>
          </a:p>
          <a:p>
            <a:pPr marL="228600" indent="-2286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INPUT_REPORT: report length + preferred poll rate</a:t>
            </a:r>
            <a:endParaRPr lang="en-US" sz="1250" dirty="0"/>
          </a:p>
          <a:p>
            <a:pPr marL="228600" indent="-2286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OUTPUT_REPORT: output report length</a:t>
            </a:r>
            <a:endParaRPr lang="en-US" sz="1250" dirty="0"/>
          </a:p>
          <a:p>
            <a:pPr marL="228600" indent="-2286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ICON_ID: index into the watch's built-in icon set</a:t>
            </a:r>
            <a:endParaRPr lang="en-US" sz="1250" dirty="0"/>
          </a:p>
          <a:p>
            <a:pPr marL="228600" indent="-228600" algn="l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4C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TLV types are skipped, not rejected → forward-compatible (borrowed from USB HID)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246120"/>
            <a:ext cx="5440680" cy="2788920"/>
          </a:xfrm>
          <a:prstGeom prst="roundRect">
            <a:avLst>
              <a:gd name="adj" fmla="val 2623"/>
            </a:avLst>
          </a:prstGeom>
          <a:solidFill>
            <a:srgbClr val="12263A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3429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beats Qwiic / STEMMA QT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79476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ecosystems standardize the connector, not discovery</a:t>
            </a:r>
            <a:endParaRPr lang="en-US" sz="1250" dirty="0"/>
          </a:p>
          <a:p>
            <a:pPr marL="228600" indent="-2286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Qwiic module tells the host nothing about itself; a driver must already exist</a:t>
            </a:r>
            <a:endParaRPr lang="en-US" sz="1250" dirty="0"/>
          </a:p>
          <a:p>
            <a:pPr marL="228600" indent="-228600" algn="l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4C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FinWatch module's descriptor carries name, report sizes, poll rate and icon - enough to be usable the instant it's plugged in</a:t>
            </a:r>
            <a:endParaRPr lang="en-US" sz="125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E88BC131-29C0-44BC-A229-48595B363EF5}"/>
              </a:ext>
            </a:extLst>
          </p:cNvPr>
          <p:cNvSpPr/>
          <p:nvPr/>
        </p:nvSpPr>
        <p:spPr>
          <a:xfrm>
            <a:off x="11000232" y="64793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Enumeration &amp; the Trust Boundary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byte a module sends is treated as untrusted, adversarial input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FinWatch  ·  Project 323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8920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5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7240" y="5047488"/>
            <a:ext cx="292608" cy="292608"/>
          </a:xfrm>
          <a:prstGeom prst="ellipse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047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88720" y="495604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consecutive address ACKs → module attaches, enumeration begins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77240" y="5367528"/>
            <a:ext cx="292608" cy="292608"/>
          </a:xfrm>
          <a:prstGeom prst="ellipse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367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88720" y="52760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 validated (magic, version, length, CRC-16, TLV bounds) → ACTIVE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77240" y="5687568"/>
            <a:ext cx="292608" cy="292608"/>
          </a:xfrm>
          <a:prstGeom prst="ellipse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687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88720" y="559612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check fails → ERROR; not retried until the module is physically removed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77240" y="6007608"/>
            <a:ext cx="292608" cy="292608"/>
          </a:xfrm>
          <a:prstGeom prst="ellipse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6007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88720" y="59161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consecutive NACKs, or 3 bus errors while ACTIVE ⇒ i2c_recover_bus(), back to ABSENT</a:t>
            </a:r>
            <a:endParaRPr lang="en-US" sz="1150" dirty="0"/>
          </a:p>
        </p:txBody>
      </p:sp>
      <p:pic>
        <p:nvPicPr>
          <p:cNvPr id="41" name="תמונה 40">
            <a:extLst>
              <a:ext uri="{FF2B5EF4-FFF2-40B4-BE49-F238E27FC236}">
                <a16:creationId xmlns:a16="http://schemas.microsoft.com/office/drawing/2014/main" id="{0CCA6844-A7F9-4384-A167-75EBB2DB5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773" y="1385602"/>
            <a:ext cx="8164064" cy="3410426"/>
          </a:xfrm>
          <a:prstGeom prst="rect">
            <a:avLst/>
          </a:prstGeom>
        </p:spPr>
      </p:pic>
      <p:sp>
        <p:nvSpPr>
          <p:cNvPr id="19" name="Text 8">
            <a:extLst>
              <a:ext uri="{FF2B5EF4-FFF2-40B4-BE49-F238E27FC236}">
                <a16:creationId xmlns:a16="http://schemas.microsoft.com/office/drawing/2014/main" id="{7418461C-5127-48F9-886A-7E6EC9B34F4C}"/>
              </a:ext>
            </a:extLst>
          </p:cNvPr>
          <p:cNvSpPr/>
          <p:nvPr/>
        </p:nvSpPr>
        <p:spPr>
          <a:xfrm>
            <a:off x="10972800" y="6471377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Firmware &amp; Power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FinWatch  ·  Project 323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 priorities (lower number = higher priority)</a:t>
            </a:r>
            <a:endParaRPr lang="en-US" sz="14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486400" cy="196291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Thread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Prio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Responsibility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Display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7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Renders UI, services touch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Sensor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8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Blocks on IMU interrupt; samples only in an active window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Update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9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1 Hz watch-face refresh; battery every 10 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Expansion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10 (lowest)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Presence polling, enumeration, I/O reports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6052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5F8F9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4279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lowest priority, deliberately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45720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module holds the clock line indefinitely, it only ruins its own responsiveness , never the display, the sensor, or the watch face. BLE runs on a separate physical core, so a misbehaving module can never drop the radio link.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55080" y="1645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polling - power vs. latency</a:t>
            </a:r>
            <a:endParaRPr lang="en-US" sz="145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011680"/>
          <a:ext cx="5303520" cy="16002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Regime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Interval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When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Absent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1000 ms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No module attached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Background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250 ms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Module attached, screen not visible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Foreground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50 ms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User looking at the module screen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355080" y="3794760"/>
            <a:ext cx="5303520" cy="2240280"/>
          </a:xfrm>
          <a:prstGeom prst="roundRect">
            <a:avLst>
              <a:gd name="adj" fmla="val 3265"/>
            </a:avLst>
          </a:prstGeom>
          <a:solidFill>
            <a:srgbClr val="F5F8F9"/>
          </a:solidFill>
          <a:ln w="12700">
            <a:solidFill>
              <a:srgbClr val="F2A541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629400" y="39136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Interrupt-driven motion wake</a:t>
            </a:r>
            <a:endParaRPr lang="en-US" sz="1250" dirty="0"/>
          </a:p>
        </p:txBody>
      </p:sp>
      <p:sp>
        <p:nvSpPr>
          <p:cNvPr id="5" name="Text 9"/>
          <p:cNvSpPr/>
          <p:nvPr/>
        </p:nvSpPr>
        <p:spPr>
          <a:xfrm>
            <a:off x="6629400" y="420624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IMU's own wake-up detector asserts an interrupt on motion</a:t>
            </a:r>
            <a:endParaRPr lang="en-US" sz="115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sleeps until then - zero CPU time, zero timer wake-ups when idle</a:t>
            </a:r>
            <a:endParaRPr lang="en-US" sz="115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Hz step-detection sampling runs only inside a 3 s active window</a:t>
            </a:r>
            <a:endParaRPr lang="en-US" sz="115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continuous polling if the interrupt fails to initialize</a:t>
            </a:r>
            <a:endParaRPr lang="en-US" sz="115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461B70F6-82F5-438B-94C2-5DF18BB72812}"/>
              </a:ext>
            </a:extLst>
          </p:cNvPr>
          <p:cNvSpPr/>
          <p:nvPr/>
        </p:nvSpPr>
        <p:spPr>
          <a:xfrm>
            <a:off x="1083564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vs. Execution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plan (five contributions) against status as of today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FinWatch  ·  Project 323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777625"/>
              </p:ext>
            </p:extLst>
          </p:nvPr>
        </p:nvGraphicFramePr>
        <p:xfrm>
          <a:off x="548640" y="1737360"/>
          <a:ext cx="11064240" cy="443484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9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Planned contribution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Status as of today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12263A"/>
                          </a:solidFill>
                        </a:rPr>
                        <a:t>1. Custom hardware platform (4-layer PCB)</a:t>
                      </a:r>
                      <a:endParaRPr lang="en-US" sz="118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12263A"/>
                          </a:solidFill>
                        </a:rPr>
                        <a:t>Revision A manufactured; power rails verified. A missing SWD header forced Revision B.</a:t>
                      </a:r>
                      <a:endParaRPr lang="en-US" sz="118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12263A"/>
                          </a:solidFill>
                        </a:rPr>
                        <a:t>2. FWMP v1 specification</a:t>
                      </a:r>
                      <a:endParaRPr lang="en-US" sz="118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12263A"/>
                          </a:solidFill>
                        </a:rPr>
                        <a:t>Complete: electrical spec, register map, TLV descriptor, and enumeration state machine all defined and implemented.</a:t>
                      </a:r>
                      <a:endParaRPr lang="en-US" sz="118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12263A"/>
                          </a:solidFill>
                        </a:rPr>
                        <a:t>3. Zephyr firmware, ~2,550 LOC / 9 subsystems</a:t>
                      </a:r>
                      <a:endParaRPr lang="en-US" sz="118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12263A"/>
                          </a:solidFill>
                        </a:rPr>
                        <a:t>Implemented and functionally verified on the nRF5340-DK, independent of the custom board.</a:t>
                      </a:r>
                      <a:endParaRPr lang="en-US" sz="118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12263A"/>
                          </a:solidFill>
                        </a:rPr>
                        <a:t>4. Mock transport + fault-injection harness</a:t>
                      </a:r>
                      <a:endParaRPr lang="en-US" sz="118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12263A"/>
                          </a:solidFill>
                        </a:rPr>
                        <a:t>Implemented; all six fault classes and every host-side rejection path are exercised.</a:t>
                      </a:r>
                      <a:endParaRPr lang="en-US" sz="118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12263A"/>
                          </a:solidFill>
                        </a:rPr>
                        <a:t>5. Documented design-review process</a:t>
                      </a:r>
                      <a:endParaRPr lang="en-US" sz="118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12263A"/>
                          </a:solidFill>
                        </a:rPr>
                        <a:t>Complete; produced directly by the Revision A SWD omission; yielded the pre-fabrication checklist.</a:t>
                      </a:r>
                      <a:endParaRPr lang="en-US" sz="118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mapped from the objectives stated in the proposal / report introduction — the detailed milestone timeline follows next.</a:t>
            </a:r>
            <a:endParaRPr lang="en-US" sz="95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E992783D-8226-4CDB-95FC-1B1DFD058A92}"/>
              </a:ext>
            </a:extLst>
          </p:cNvPr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against target dates, current status as of today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FinWatch  ·  Project 323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3246120"/>
            <a:ext cx="10561320" cy="0"/>
          </a:xfrm>
          <a:prstGeom prst="line">
            <a:avLst/>
          </a:prstGeom>
          <a:noFill/>
          <a:ln w="38100">
            <a:solidFill>
              <a:srgbClr val="D8E0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3145536"/>
            <a:ext cx="201168" cy="201168"/>
          </a:xfrm>
          <a:prstGeom prst="ellipse">
            <a:avLst/>
          </a:prstGeom>
          <a:solidFill>
            <a:srgbClr val="3E8E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822958" y="2784348"/>
            <a:ext cx="1" cy="365759"/>
          </a:xfrm>
          <a:prstGeom prst="line">
            <a:avLst/>
          </a:prstGeom>
          <a:noFill/>
          <a:ln w="15875">
            <a:solidFill>
              <a:srgbClr val="D8E0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83080"/>
            <a:ext cx="14333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2025
</a:t>
            </a:r>
            <a:endParaRPr lang="en-US" sz="100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BLE Training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450592"/>
            <a:ext cx="1433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official Nordic courses + BLE course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320040" y="33924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E8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31136" y="3145536"/>
            <a:ext cx="201168" cy="201168"/>
          </a:xfrm>
          <a:prstGeom prst="ellipse">
            <a:avLst/>
          </a:prstGeom>
          <a:solidFill>
            <a:srgbClr val="3E8E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3346704"/>
            <a:ext cx="0" cy="603504"/>
          </a:xfrm>
          <a:prstGeom prst="line">
            <a:avLst/>
          </a:prstGeom>
          <a:noFill/>
          <a:ln w="15875">
            <a:solidFill>
              <a:srgbClr val="D8E0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15059" y="3977640"/>
            <a:ext cx="14333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
</a:t>
            </a:r>
            <a:endParaRPr lang="en-US" sz="100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Schematic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15059" y="4553712"/>
            <a:ext cx="1433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design complete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828800" y="28620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E8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40480" y="2560320"/>
            <a:ext cx="0" cy="603504"/>
          </a:xfrm>
          <a:prstGeom prst="line">
            <a:avLst/>
          </a:prstGeom>
          <a:noFill/>
          <a:ln w="15875">
            <a:solidFill>
              <a:srgbClr val="D8E0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50099" y="3977640"/>
            <a:ext cx="14333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 – today
</a:t>
            </a:r>
            <a:endParaRPr lang="en-US" sz="100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Fabrication: Rev A → Rev 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50099" y="4645152"/>
            <a:ext cx="1433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A manufactured; SWD fix applied; Rev B in hand, bring-up underway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248656" y="3145536"/>
            <a:ext cx="201168" cy="201168"/>
          </a:xfrm>
          <a:prstGeom prst="ellipse">
            <a:avLst/>
          </a:prstGeom>
          <a:solidFill>
            <a:srgbClr val="3E8E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49240" y="3328416"/>
            <a:ext cx="0" cy="603504"/>
          </a:xfrm>
          <a:prstGeom prst="line">
            <a:avLst/>
          </a:prstGeom>
          <a:noFill/>
          <a:ln w="15875">
            <a:solidFill>
              <a:srgbClr val="D8E0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76957" y="1618488"/>
            <a:ext cx="14333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
</a:t>
            </a:r>
            <a:endParaRPr lang="en-US" sz="100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Interface &amp; Firmware Core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076957" y="2194560"/>
            <a:ext cx="1433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GATT services, advertising, battery notify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846320" y="28620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E8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57416" y="3145536"/>
            <a:ext cx="201168" cy="201168"/>
          </a:xfrm>
          <a:prstGeom prst="ellipse">
            <a:avLst/>
          </a:prstGeom>
          <a:solidFill>
            <a:srgbClr val="3E8E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2542032"/>
            <a:ext cx="0" cy="603504"/>
          </a:xfrm>
          <a:prstGeom prst="line">
            <a:avLst/>
          </a:prstGeom>
          <a:noFill/>
          <a:ln w="15875">
            <a:solidFill>
              <a:srgbClr val="D8E0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01718" y="3926100"/>
            <a:ext cx="14333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
</a:t>
            </a:r>
            <a:endParaRPr lang="en-US" sz="100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FWMP Expansion Protocol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01718" y="4593612"/>
            <a:ext cx="1433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Host-side implementation + fault injection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6355080" y="33924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E8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266176" y="3145536"/>
            <a:ext cx="201168" cy="201168"/>
          </a:xfrm>
          <a:prstGeom prst="ellipse">
            <a:avLst/>
          </a:prstGeom>
          <a:solidFill>
            <a:srgbClr val="3E8E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66760" y="3354186"/>
            <a:ext cx="0" cy="603504"/>
          </a:xfrm>
          <a:prstGeom prst="line">
            <a:avLst/>
          </a:prstGeom>
          <a:noFill/>
          <a:ln w="15875">
            <a:solidFill>
              <a:srgbClr val="D8E0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17908" y="1606021"/>
            <a:ext cx="14333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
</a:t>
            </a:r>
            <a:endParaRPr lang="en-US" sz="100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Display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17908" y="2182093"/>
            <a:ext cx="1433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LVGL watch face, module screen, touch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7863840" y="28620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E8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774936" y="3145536"/>
            <a:ext cx="201168" cy="201168"/>
          </a:xfrm>
          <a:prstGeom prst="ellipse">
            <a:avLst/>
          </a:prstGeom>
          <a:solidFill>
            <a:srgbClr val="5B6B7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875520" y="2651760"/>
            <a:ext cx="0" cy="484632"/>
          </a:xfrm>
          <a:prstGeom prst="line">
            <a:avLst/>
          </a:prstGeom>
          <a:noFill/>
          <a:ln w="15875">
            <a:solidFill>
              <a:srgbClr val="D8E0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58859" y="1783080"/>
            <a:ext cx="14333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
</a:t>
            </a:r>
            <a:endParaRPr lang="en-US" sz="100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Expansion Module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158859" y="2305949"/>
            <a:ext cx="1433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module build (Appendix C)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9372600" y="33924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1283696" y="3145536"/>
            <a:ext cx="201168" cy="20116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384280" y="3355848"/>
            <a:ext cx="0" cy="603504"/>
          </a:xfrm>
          <a:prstGeom prst="line">
            <a:avLst/>
          </a:prstGeom>
          <a:noFill/>
          <a:ln w="15875">
            <a:solidFill>
              <a:srgbClr val="D8E0E5"/>
            </a:solidFill>
            <a:prstDash val="solid"/>
          </a:ln>
        </p:spPr>
        <p:txBody>
          <a:bodyPr/>
          <a:lstStyle/>
          <a:p>
            <a:endParaRPr lang="he-IL" dirty="0"/>
          </a:p>
        </p:txBody>
      </p:sp>
      <p:sp>
        <p:nvSpPr>
          <p:cNvPr id="43" name="Text 41"/>
          <p:cNvSpPr/>
          <p:nvPr/>
        </p:nvSpPr>
        <p:spPr>
          <a:xfrm>
            <a:off x="10252710" y="3977640"/>
            <a:ext cx="14333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
</a:t>
            </a:r>
            <a:endParaRPr lang="en-US" sz="100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252710" y="4553712"/>
            <a:ext cx="1433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Write-up and documentation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10881360" y="28620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48640" y="5257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8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  </a:t>
            </a:r>
            <a:r>
              <a:rPr lang="en-US" sz="1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  ● Planned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48640" y="5559552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F5F8F9"/>
          </a:solidFill>
          <a:ln w="12700">
            <a:solidFill>
              <a:srgbClr val="F2A541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22960" y="5559552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 held up well overall, the main source of delay was component/part sourcing lead times (PMIC and IMU shortages, one cancelled order), not scope or design rework. Revision B is manufactured and in hand; bring-up is in progress.</a:t>
            </a:r>
            <a:endParaRPr lang="en-US" sz="1050" dirty="0"/>
          </a:p>
        </p:txBody>
      </p:sp>
      <p:sp>
        <p:nvSpPr>
          <p:cNvPr id="49" name="Shape 19">
            <a:extLst>
              <a:ext uri="{FF2B5EF4-FFF2-40B4-BE49-F238E27FC236}">
                <a16:creationId xmlns:a16="http://schemas.microsoft.com/office/drawing/2014/main" id="{C87D6837-49B9-4B6C-97BD-25B298379F3B}"/>
              </a:ext>
            </a:extLst>
          </p:cNvPr>
          <p:cNvSpPr/>
          <p:nvPr/>
        </p:nvSpPr>
        <p:spPr>
          <a:xfrm>
            <a:off x="3739896" y="3154680"/>
            <a:ext cx="201168" cy="201168"/>
          </a:xfrm>
          <a:prstGeom prst="ellipse">
            <a:avLst/>
          </a:prstGeom>
          <a:solidFill>
            <a:srgbClr val="3E8E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FBC87896-4047-4EAB-ABBA-E0E6569A483F}"/>
              </a:ext>
            </a:extLst>
          </p:cNvPr>
          <p:cNvSpPr/>
          <p:nvPr/>
        </p:nvSpPr>
        <p:spPr>
          <a:xfrm>
            <a:off x="3337559" y="3337561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E8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AB68012B-22D2-4E19-A492-7ECC2B53FB30}"/>
              </a:ext>
            </a:extLst>
          </p:cNvPr>
          <p:cNvSpPr/>
          <p:nvPr/>
        </p:nvSpPr>
        <p:spPr>
          <a:xfrm>
            <a:off x="10969371" y="6472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&amp;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FinWatch  ·  Project 323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15768" cy="42976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700">
            <a:solidFill>
              <a:srgbClr val="D8E0E5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365760" cy="365760"/>
          </a:xfrm>
          <a:prstGeom prst="ellipse">
            <a:avLst/>
          </a:prstGeom>
          <a:solidFill>
            <a:srgbClr val="3E8E6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947672"/>
            <a:ext cx="1801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verification (DK)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225856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firmware- display, touch, sensor, BLE, FWMP host, run on the nRF5340-DK</a:t>
            </a:r>
            <a:endParaRPr lang="en-US" sz="11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Devicetree abstraction let firmware development proceed in parallel with PCB fabrication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47288" y="1691640"/>
            <a:ext cx="2715768" cy="42976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700">
            <a:solidFill>
              <a:srgbClr val="D8E0E5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75888" y="1965960"/>
            <a:ext cx="365760" cy="365760"/>
          </a:xfrm>
          <a:prstGeom prst="ellipse">
            <a:avLst/>
          </a:prstGeom>
          <a:solidFill>
            <a:srgbClr val="3E8E63"/>
          </a:solidFill>
          <a:ln/>
        </p:spPr>
      </p:sp>
      <p:sp>
        <p:nvSpPr>
          <p:cNvPr id="11" name="Text 9"/>
          <p:cNvSpPr/>
          <p:nvPr/>
        </p:nvSpPr>
        <p:spPr>
          <a:xfrm>
            <a:off x="3675888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78808" y="1947672"/>
            <a:ext cx="1801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FWMP nominal path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75888" y="2743200"/>
            <a:ext cx="225856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“Test Dial” module: attach → descriptor read → validated → live report exchange → detach</a:t>
            </a:r>
            <a:endParaRPr lang="en-US" sz="11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proof that an unknown module becomes usable with zero host-side code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45936" y="1691640"/>
            <a:ext cx="2715768" cy="42976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700">
            <a:solidFill>
              <a:srgbClr val="D8E0E5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74536" y="1965960"/>
            <a:ext cx="365760" cy="365760"/>
          </a:xfrm>
          <a:prstGeom prst="ellipse">
            <a:avLst/>
          </a:prstGeom>
          <a:solidFill>
            <a:srgbClr val="3E8E63"/>
          </a:solidFill>
          <a:ln/>
        </p:spPr>
      </p:sp>
      <p:sp>
        <p:nvSpPr>
          <p:cNvPr id="16" name="Text 14"/>
          <p:cNvSpPr/>
          <p:nvPr/>
        </p:nvSpPr>
        <p:spPr>
          <a:xfrm>
            <a:off x="6574536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77456" y="1947672"/>
            <a:ext cx="1801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injection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74536" y="2743200"/>
            <a:ext cx="225856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injected fault classes: bad magic, bad version, bad CRC, oversize length, TLV overrun, bus error</a:t>
            </a:r>
            <a:endParaRPr lang="en-US" sz="11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host-side rejection path is reachable and exercised without physical hardware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44584" y="1691640"/>
            <a:ext cx="2715768" cy="42976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700">
            <a:solidFill>
              <a:srgbClr val="D8E0E5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47318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976104" y="1947672"/>
            <a:ext cx="1801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Revision A electrical bring-up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73184" y="2743200"/>
            <a:ext cx="225856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rails (1.8 V / 3.3 V) verified on the manufactured board</a:t>
            </a:r>
            <a:endParaRPr lang="en-US" sz="11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loading blocked by the missing SWD header; full functional bring-up was corrected in revision 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module hardware has not yet been built — fault-injection results come from the mock transport, not real bus electrics. This is named as the top item for future work in the report.</a:t>
            </a:r>
            <a:endParaRPr lang="en-US" sz="1050" dirty="0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999B4A5A-FA80-4575-8EDA-5FD0C5840A79}"/>
              </a:ext>
            </a:extLst>
          </p:cNvPr>
          <p:cNvSpPr/>
          <p:nvPr/>
        </p:nvSpPr>
        <p:spPr>
          <a:xfrm>
            <a:off x="9541764" y="1961388"/>
            <a:ext cx="365760" cy="365760"/>
          </a:xfrm>
          <a:prstGeom prst="ellipse">
            <a:avLst/>
          </a:prstGeom>
          <a:solidFill>
            <a:srgbClr val="3E8E63"/>
          </a:solidFill>
          <a:ln/>
        </p:spPr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38FF83C0-CC8D-4C9C-9AEC-95639DF184FB}"/>
              </a:ext>
            </a:extLst>
          </p:cNvPr>
          <p:cNvSpPr/>
          <p:nvPr/>
        </p:nvSpPr>
        <p:spPr>
          <a:xfrm>
            <a:off x="9541764" y="19613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3F2380C2-B256-41D4-8B09-824599A14D7B}"/>
              </a:ext>
            </a:extLst>
          </p:cNvPr>
          <p:cNvSpPr/>
          <p:nvPr/>
        </p:nvSpPr>
        <p:spPr>
          <a:xfrm>
            <a:off x="10998222" y="6472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Challenges: The Missing Debug Header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FinWatch  ·  Project 323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12263A"/>
          </a:solidFill>
          <a:ln w="12700">
            <a:solidFill>
              <a:srgbClr val="24405A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320040" cy="320040"/>
          </a:xfrm>
          <a:prstGeom prst="ellipse">
            <a:avLst/>
          </a:prstGeom>
          <a:solidFill>
            <a:srgbClr val="C1443C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029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A's power rails came up correctly, but the board could not be programmed or debugged at all.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12263A"/>
          </a:solidFill>
          <a:ln w="12700">
            <a:solidFill>
              <a:srgbClr val="24405A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2057400"/>
            <a:ext cx="320040" cy="3200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2029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5146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SWDIO and SWDCLK were simply never routed. A blank nRF5340 has no bootloader, so SWD is the only way in and an ERC only checks nets that exist, not ones that should.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12263A"/>
          </a:solidFill>
          <a:ln w="12700">
            <a:solidFill>
              <a:srgbClr val="24405A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2057400"/>
            <a:ext cx="320040" cy="320040"/>
          </a:xfrm>
          <a:prstGeom prst="ellipse">
            <a:avLst/>
          </a:prstGeom>
          <a:solidFill>
            <a:srgbClr val="3E8E63"/>
          </a:solidFill>
          <a:ln/>
        </p:spPr>
      </p:sp>
      <p:sp>
        <p:nvSpPr>
          <p:cNvPr id="14" name="Text 12"/>
          <p:cNvSpPr/>
          <p:nvPr/>
        </p:nvSpPr>
        <p:spPr>
          <a:xfrm>
            <a:off x="8732520" y="2029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(Rev B)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25146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signals: SWDIO, SWDCLK, and nRESET  routed to 1×1 mm test pads. nRESET is included so a locked-up core can still be halted.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6324A"/>
          </a:solidFill>
          <a:ln w="12700">
            <a:solidFill>
              <a:srgbClr val="4CD9C0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502920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availability told the same lesson twice: a supply shortage forced a PMIC swap and a pin-compatible IMU swap. Because hardware dependencies lived in the Devicetree, the software change was confined to an overlay, not a board re-spin.</a:t>
            </a:r>
            <a:endParaRPr lang="en-US" sz="125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7A527A7B-350E-452B-9433-E12E2DD76B81}"/>
              </a:ext>
            </a:extLst>
          </p:cNvPr>
          <p:cNvSpPr/>
          <p:nvPr/>
        </p:nvSpPr>
        <p:spPr>
          <a:xfrm>
            <a:off x="11000232" y="64793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Improvements, challenges, budget and work plan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FinWatch  ·  Project 323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0E5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 as a design constraint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Specified PMIC and IMU were both out of stock at every distributor checked</a:t>
            </a:r>
            <a:endParaRPr lang="en-US" sz="13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suppliers would not quote single-unit student-project quantities</a:t>
            </a:r>
            <a:endParaRPr lang="en-US" sz="13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order was cancelled outright, costing 14 further weeks</a:t>
            </a:r>
            <a:endParaRPr lang="en-US" sz="13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became a primary selection criterion, not just a technical one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0E5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Pre-fabrication checklist (derived from Rev A)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92240" y="23317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SWD (SWDIO, SWDCLK, nRESET) brought out to an accessible pad set</a:t>
            </a:r>
            <a:endParaRPr lang="en-US" sz="13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rail has a test point; at least one ground clip point</a:t>
            </a:r>
            <a:endParaRPr lang="en-US" sz="13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BOM part in stock from ≥ 2 distributors, second source documented</a:t>
            </a:r>
            <a:endParaRPr lang="en-US" sz="13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decoupling within a few mm of every supply pin</a:t>
            </a:r>
            <a:endParaRPr lang="en-US" sz="13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keepout clear on all layers; RF match is controlled-impedance</a:t>
            </a:r>
            <a:endParaRPr lang="en-US" sz="13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112C45B-0890-4C41-A89A-005F03586E0A}"/>
              </a:ext>
            </a:extLst>
          </p:cNvPr>
          <p:cNvSpPr/>
          <p:nvPr/>
        </p:nvSpPr>
        <p:spPr>
          <a:xfrm>
            <a:off x="1100023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FinWatch Compares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where it's behind and precise about where it's new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FinWatch  ·  Project 323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566157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PineTime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ZSWatch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Dev Kits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FinWatch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2263A"/>
                          </a:solidFill>
                        </a:rPr>
                        <a:t>Wearable form factor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Yes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Yes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</a:rPr>
                        <a:t>Yes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2263A"/>
                          </a:solidFill>
                        </a:rPr>
                        <a:t>Sensor richness / maturity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Basic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Rich, mature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Rich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</a:rPr>
                        <a:t>Basic, prototype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2263A"/>
                          </a:solidFill>
                        </a:rPr>
                        <a:t>Expansion without opening the case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n/a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</a:rPr>
                        <a:t>Yes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2263A"/>
                          </a:solidFill>
                        </a:rPr>
                        <a:t>Third-party modules, no first-party driver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</a:rPr>
                        <a:t>Yes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2263A"/>
                          </a:solidFill>
                        </a:rPr>
                        <a:t>Runtime device discovery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</a:rPr>
                        <a:t>Yes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2263A"/>
                          </a:solidFill>
                        </a:rPr>
                        <a:t>Self-describing descriptor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263A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</a:rPr>
                        <a:t>Yes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864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5F8F9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548640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ZSWatch shares the same SoC, RTOS, PMIC and flash part, is more mature. The claim here is narrow and specific: not a better watch, but a sealed device that can use hardware its firmware has never seen.</a:t>
            </a:r>
            <a:endParaRPr lang="en-US" sz="12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78384FC2-72B7-4533-8BD8-45A52E1A33D0}"/>
              </a:ext>
            </a:extLst>
          </p:cNvPr>
          <p:cNvSpPr/>
          <p:nvPr/>
        </p:nvSpPr>
        <p:spPr>
          <a:xfrm>
            <a:off x="1100023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FinWatch  ·  Project 323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2263A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002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sealed watch can use hardware its firmware has never seen, discovered, validated, and made usable at runtime through four contacts and a self-describing descriptor.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C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Recommendations, aligned to each objective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platform: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91840" y="32918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Revision B bring-up and validate the RF match against the on-board antenna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89534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FWMP protocol: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91840" y="3895344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physical reference module (Appendix C) to expose real electrical hot-plug behaviour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4988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91840" y="449884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step counting fully into the IMU's embedded pedometer to cut active-window CPU time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1023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/ robustness: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91840" y="510235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current limiting and ESD protection at the port; the trust boundary is still only logical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570585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91840" y="5705856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multi-module addressing and an interrupt-capable variant to remove idle polling cost</a:t>
            </a:r>
            <a:endParaRPr lang="en-US" sz="12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3CF91D97-D665-4FE0-92E5-BCF48AC395AC}"/>
              </a:ext>
            </a:extLst>
          </p:cNvPr>
          <p:cNvSpPr/>
          <p:nvPr/>
        </p:nvSpPr>
        <p:spPr>
          <a:xfrm>
            <a:off x="11000232" y="64793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6868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4C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4160520"/>
            <a:ext cx="38404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438912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Omer Lazaros   ·   Chen Leibov
</a:t>
            </a:r>
            <a:endParaRPr lang="en-US" sz="15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Supervisor: Prof. Leonid </a:t>
            </a:r>
            <a:r>
              <a:rPr lang="en-US" sz="1200" dirty="0" err="1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Yavitz</a:t>
            </a:r>
            <a:r>
              <a:rPr lang="en-US" sz="12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email: leonid.yavitz@biu.ac.il
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Mentor: David Freud email: david.freud@mail.huj.ac.il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83453  ·  Project 323  ·  Faculty of Engineering, Bar-Ilan University</a:t>
            </a:r>
            <a:endParaRPr lang="en-US" sz="11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8ECA21E1-25A7-48BC-88CC-B5DF4F265FA4}"/>
              </a:ext>
            </a:extLst>
          </p:cNvPr>
          <p:cNvSpPr/>
          <p:nvPr/>
        </p:nvSpPr>
        <p:spPr>
          <a:xfrm>
            <a:off x="11000232" y="64793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2510</Words>
  <Application>Microsoft Office PowerPoint</Application>
  <PresentationFormat>מסך רחב</PresentationFormat>
  <Paragraphs>416</Paragraphs>
  <Slides>20</Slides>
  <Notes>20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Omer Lazaros</cp:lastModifiedBy>
  <cp:revision>11</cp:revision>
  <dcterms:created xsi:type="dcterms:W3CDTF">2026-09-27T07:50:41Z</dcterms:created>
  <dcterms:modified xsi:type="dcterms:W3CDTF">2026-09-30T14:03:50Z</dcterms:modified>
</cp:coreProperties>
</file>